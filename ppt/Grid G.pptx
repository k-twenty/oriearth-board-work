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0" d="100"/>
          <a:sy n="50" d="100"/>
        </p:scale>
        <p:origin x="67" y="62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E90E66-5C3D-AF1E-0BF9-A53B3505B4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28EABF8-C740-E762-D174-C48382449F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99E60D-7083-51F6-075F-83BBCF3815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A6F91-1285-45B2-84DC-2A5E844D6EE8}" type="datetimeFigureOut">
              <a:rPr lang="en-GB" smtClean="0"/>
              <a:t>29/05/2026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336410-9162-063B-EE16-ABC7359352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8217BD-582A-2DDB-1FBF-EBAF9B41ED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14FD1-4C9A-4AB7-8E4B-D45CDF74485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965846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D62974-45CF-DAA8-C6B2-D08EE77295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964FCA-25B8-F25B-B4A5-DB950F2386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0C7408-B460-CBF5-02B2-2F6FBE8C5A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A6F91-1285-45B2-84DC-2A5E844D6EE8}" type="datetimeFigureOut">
              <a:rPr lang="en-GB" smtClean="0"/>
              <a:t>29/05/2026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930BF7-CCF0-38BB-8348-E39CCC4C89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67970B-B0F4-208F-8DD6-BFEEEEFA47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14FD1-4C9A-4AB7-8E4B-D45CDF74485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76768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C32A82-ECFC-7B2E-9FEF-B51C2EDAE3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577398-3549-854A-69C8-A6D4FC2BCA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47F855-B4D2-22B7-A5D9-F4C259FD2B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A6F91-1285-45B2-84DC-2A5E844D6EE8}" type="datetimeFigureOut">
              <a:rPr lang="en-GB" smtClean="0"/>
              <a:t>29/05/2026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D4EE9D-380A-20FF-E406-81F5730780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CE18AB-0A65-88F5-B9DB-78E36C77F5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14FD1-4C9A-4AB7-8E4B-D45CDF74485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564728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00FFCC-691D-A77B-C39C-CD60EB15E9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C5753A-ADD5-1AFF-381B-F703B6EA23A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9EFD57-78A2-BE69-4375-E1999A5AD6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A26AC7-3EB1-5854-84C5-369645A7B4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A6F91-1285-45B2-84DC-2A5E844D6EE8}" type="datetimeFigureOut">
              <a:rPr lang="en-GB" smtClean="0"/>
              <a:t>29/05/2026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E33E32-6808-C31D-5137-489FE4734A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2B34DD-E066-B020-59B5-AA23A19A63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14FD1-4C9A-4AB7-8E4B-D45CDF74485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977231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58CB6A-A70A-F8F4-20D0-CDA3C94808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D43404-A6FA-FB2F-0553-D78CEB1C93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523AC35-82C6-20F1-0FAC-5EAE18A05A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D20B6B6-88F5-2620-D382-9E35ED1C8B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D0CE219-738F-41AE-44C7-C62CCE8AFB3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486E24E-A795-40D5-19F6-934BED01D1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A6F91-1285-45B2-84DC-2A5E844D6EE8}" type="datetimeFigureOut">
              <a:rPr lang="en-GB" smtClean="0"/>
              <a:t>29/05/2026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F346F9B-AE1A-3481-2A63-EBB0E12EC9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4FE71AD-0DBD-4D19-2DA5-A203059218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14FD1-4C9A-4AB7-8E4B-D45CDF74485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858635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B95FA9-E640-9BD6-03F8-68F5468135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A8A30E6-E10C-6F00-1C7B-FA39919CEB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A6F91-1285-45B2-84DC-2A5E844D6EE8}" type="datetimeFigureOut">
              <a:rPr lang="en-GB" smtClean="0"/>
              <a:t>29/05/2026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67DBF12-2C4B-2DDA-ED4F-1D7A946FFB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81A7C2A-D34F-E4D9-E033-420C1CFD7C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14FD1-4C9A-4AB7-8E4B-D45CDF74485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478430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7060E78-E6C7-798B-9359-ADE1637E97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A6F91-1285-45B2-84DC-2A5E844D6EE8}" type="datetimeFigureOut">
              <a:rPr lang="en-GB" smtClean="0"/>
              <a:t>29/05/2026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10563B1-3FFC-157D-5FAE-F162232A85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F69D7F-8355-8BFF-5065-564B728AF6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14FD1-4C9A-4AB7-8E4B-D45CDF74485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367554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AEE395-7114-B14F-E49D-B8ABAF343E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5F938F-00E5-E65A-3E9C-9D5CD8410E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0AFF93-A31E-EB6E-2266-A3B1B858CB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6F2C2A-AF5B-0EFF-7B03-C3811D8FC7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A6F91-1285-45B2-84DC-2A5E844D6EE8}" type="datetimeFigureOut">
              <a:rPr lang="en-GB" smtClean="0"/>
              <a:t>29/05/2026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F1F4C4-A480-A950-0C9B-850EECF0B0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86386F-CFF8-9206-FD2A-E77FEF84E3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14FD1-4C9A-4AB7-8E4B-D45CDF74485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631055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81B279-5872-2CA2-A2D5-A812B978C9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0E88AEC-9A65-2232-2FEF-D6BC3DF9D19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4F6CE10-2EBE-F3A8-AA9C-D94FD632BB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3C6C30-5767-5633-FD15-539F720774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A6F91-1285-45B2-84DC-2A5E844D6EE8}" type="datetimeFigureOut">
              <a:rPr lang="en-GB" smtClean="0"/>
              <a:t>29/05/2026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8543DD-C068-F098-463D-71DCA577E5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D7A2EA-7AB0-832C-F11E-787A2B00A2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14FD1-4C9A-4AB7-8E4B-D45CDF74485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590101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4441F3-651A-C983-C326-820917E852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43D643-2C75-6B03-B37B-76B10AB391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2F5A9C-5958-4C69-F679-B905B4E519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A6F91-1285-45B2-84DC-2A5E844D6EE8}" type="datetimeFigureOut">
              <a:rPr lang="en-GB" smtClean="0"/>
              <a:t>29/05/2026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338BC3-2559-0755-FBE9-FA52A8EC3C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00E0C3-F256-260B-A7A8-DFF96467E2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14FD1-4C9A-4AB7-8E4B-D45CDF74485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217570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C76DDAE-404E-899B-17E0-DB7757A267A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84FF05C-41B6-E613-4872-27E93380BF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290339-3D9C-3098-CF74-B8B16E6630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A6F91-1285-45B2-84DC-2A5E844D6EE8}" type="datetimeFigureOut">
              <a:rPr lang="en-GB" smtClean="0"/>
              <a:t>29/05/2026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F014C5-3D10-B81A-0756-6E136F027C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76E505-6AE3-4FF6-52D5-235F9166AB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14FD1-4C9A-4AB7-8E4B-D45CDF74485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650955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C9785DA-CD4E-7D2F-E092-207C1FEAEF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D160CD-C8D3-62CF-6C9A-9893476F61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8DFE3A-2D5B-B5AF-7176-959BCFC7519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5A6F91-1285-45B2-84DC-2A5E844D6EE8}" type="datetimeFigureOut">
              <a:rPr lang="en-GB" smtClean="0"/>
              <a:t>29/05/2026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E2536E-034B-36A7-8D08-E6785626023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08129E-A2B0-CF20-285B-7D9C9A9D2C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B14FD1-4C9A-4AB7-8E4B-D45CDF74485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511772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6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12" Type="http://schemas.openxmlformats.org/officeDocument/2006/relationships/image" Target="../media/image15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5" Type="http://schemas.openxmlformats.org/officeDocument/2006/relationships/image" Target="../media/image18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Relationship Id="rId14" Type="http://schemas.openxmlformats.org/officeDocument/2006/relationships/image" Target="../media/image17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Relationship Id="rId9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92E4D3-C9AE-8303-EF9F-71207DBDA2F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30EF3BA-CC09-FB59-0799-80B0C0F649A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42929607-1AE3-2DF8-5595-F974B406316D}"/>
              </a:ext>
            </a:extLst>
          </p:cNvPr>
          <p:cNvSpPr txBox="1">
            <a:spLocks/>
          </p:cNvSpPr>
          <p:nvPr/>
        </p:nvSpPr>
        <p:spPr>
          <a:xfrm>
            <a:off x="3252664" y="274249"/>
            <a:ext cx="6296270" cy="73245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6930" b="1">
                <a:solidFill>
                  <a:schemeClr val="bg1"/>
                </a:solidFill>
              </a:rPr>
              <a:t>IONIQ Forest</a:t>
            </a:r>
            <a:endParaRPr lang="en-GB" sz="6930" b="1" dirty="0">
              <a:solidFill>
                <a:schemeClr val="bg1"/>
              </a:solidFill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197817C-0326-616F-CAAD-C0FC8E90BF18}"/>
              </a:ext>
            </a:extLst>
          </p:cNvPr>
          <p:cNvSpPr txBox="1">
            <a:spLocks/>
          </p:cNvSpPr>
          <p:nvPr/>
        </p:nvSpPr>
        <p:spPr>
          <a:xfrm>
            <a:off x="3938555" y="1154414"/>
            <a:ext cx="4924487" cy="732450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5700" dirty="0">
                <a:solidFill>
                  <a:schemeClr val="bg1"/>
                </a:solidFill>
              </a:rPr>
              <a:t>Grid – G  Zones 1 -10</a:t>
            </a:r>
          </a:p>
          <a:p>
            <a:endParaRPr lang="en-GB" sz="5040" dirty="0">
              <a:solidFill>
                <a:schemeClr val="bg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6C2A498-8AE2-2663-D2CF-7DA0821C46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102" y="160488"/>
            <a:ext cx="2425468" cy="127836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A8C11AB-BB0A-7A0C-ED59-C52EACF6000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19487" y="160488"/>
            <a:ext cx="1278368" cy="127836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D4AF345-962A-1589-5FD2-A8200040327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43235" y="160488"/>
            <a:ext cx="1278368" cy="127836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83FD967-91ED-7850-0497-364570CED65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3057" y="160489"/>
            <a:ext cx="1278368" cy="1278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43644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4">
            <a:extLst>
              <a:ext uri="{FF2B5EF4-FFF2-40B4-BE49-F238E27FC236}">
                <a16:creationId xmlns:a16="http://schemas.microsoft.com/office/drawing/2014/main" id="{8914DE4E-A034-A603-F7B7-50F334AF853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21776796"/>
              </p:ext>
            </p:extLst>
          </p:nvPr>
        </p:nvGraphicFramePr>
        <p:xfrm>
          <a:off x="6156960" y="197710"/>
          <a:ext cx="5916562" cy="65164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2402">
                  <a:extLst>
                    <a:ext uri="{9D8B030D-6E8A-4147-A177-3AD203B41FA5}">
                      <a16:colId xmlns:a16="http://schemas.microsoft.com/office/drawing/2014/main" val="3569931508"/>
                    </a:ext>
                  </a:extLst>
                </a:gridCol>
                <a:gridCol w="2040521">
                  <a:extLst>
                    <a:ext uri="{9D8B030D-6E8A-4147-A177-3AD203B41FA5}">
                      <a16:colId xmlns:a16="http://schemas.microsoft.com/office/drawing/2014/main" val="1898359155"/>
                    </a:ext>
                  </a:extLst>
                </a:gridCol>
                <a:gridCol w="1824498">
                  <a:extLst>
                    <a:ext uri="{9D8B030D-6E8A-4147-A177-3AD203B41FA5}">
                      <a16:colId xmlns:a16="http://schemas.microsoft.com/office/drawing/2014/main" val="1283444939"/>
                    </a:ext>
                  </a:extLst>
                </a:gridCol>
                <a:gridCol w="1479141">
                  <a:extLst>
                    <a:ext uri="{9D8B030D-6E8A-4147-A177-3AD203B41FA5}">
                      <a16:colId xmlns:a16="http://schemas.microsoft.com/office/drawing/2014/main" val="3296130687"/>
                    </a:ext>
                  </a:extLst>
                </a:gridCol>
              </a:tblGrid>
              <a:tr h="59525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1" dirty="0">
                          <a:effectLst/>
                        </a:rPr>
                        <a:t>Sr. No.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1" dirty="0">
                          <a:effectLst/>
                        </a:rPr>
                        <a:t>Scientific 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50000"/>
                        </a:lnSpc>
                        <a:buNone/>
                      </a:pPr>
                      <a:r>
                        <a:rPr lang="en-IN" sz="1600" b="1" dirty="0">
                          <a:effectLst/>
                        </a:rPr>
                        <a:t>Common 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1" dirty="0">
                          <a:effectLst/>
                        </a:rPr>
                        <a:t>QR Code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91699356"/>
                  </a:ext>
                </a:extLst>
              </a:tr>
              <a:tr h="845891">
                <a:tc>
                  <a:txBody>
                    <a:bodyPr/>
                    <a:lstStyle/>
                    <a:p>
                      <a:pPr marL="342900" indent="-342900" fontAlgn="ctr">
                        <a:buFont typeface="+mj-lt"/>
                        <a:buAutoNum type="arabicPeriod"/>
                      </a:pPr>
                      <a:endParaRPr lang="en-IN" sz="1600" dirty="0">
                        <a:effectLst/>
                      </a:endParaRPr>
                    </a:p>
                    <a:p>
                      <a:pPr marL="0" indent="0" fontAlgn="ctr">
                        <a:buFont typeface="+mj-lt"/>
                        <a:buNone/>
                      </a:pPr>
                      <a:r>
                        <a:rPr lang="en-IN" sz="1600" dirty="0">
                          <a:effectLst/>
                        </a:rPr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1" u="none" strike="noStrike" dirty="0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Dalbergia sissoo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0" u="none" strike="noStrike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Indian rosewood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endParaRPr lang="en-IN" sz="1600" dirty="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91725259"/>
                  </a:ext>
                </a:extLst>
              </a:tr>
              <a:tr h="845891"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IN" sz="1600" dirty="0">
                          <a:effectLst/>
                        </a:rPr>
                        <a:t>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1" u="none" strike="noStrike" dirty="0" err="1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Holarrhena</a:t>
                      </a:r>
                      <a:r>
                        <a:rPr lang="en-IN" sz="1600" b="0" i="1" u="none" strike="noStrike" dirty="0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 pubescens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0" u="none" strike="noStrike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Ivory tree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endParaRPr lang="en-IN" sz="1600" dirty="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781499"/>
                  </a:ext>
                </a:extLst>
              </a:tr>
              <a:tr h="845891"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IN" sz="1600" dirty="0">
                          <a:effectLst/>
                        </a:rPr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1" u="none" strike="noStrike" dirty="0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Lagerstroemia speciosa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0" u="none" strike="noStrike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Pride of India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endParaRPr lang="en-IN" sz="1600" dirty="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2545687"/>
                  </a:ext>
                </a:extLst>
              </a:tr>
              <a:tr h="845891"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IN" sz="1600" dirty="0">
                          <a:effectLst/>
                        </a:rPr>
                        <a:t>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1" u="none" strike="noStrike" dirty="0" err="1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Limonia</a:t>
                      </a:r>
                      <a:r>
                        <a:rPr lang="en-IN" sz="1600" b="0" i="1" u="none" strike="noStrike" dirty="0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 </a:t>
                      </a:r>
                      <a:r>
                        <a:rPr lang="en-IN" sz="1600" b="0" i="1" u="none" strike="noStrike" dirty="0" err="1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acidissima</a:t>
                      </a:r>
                      <a:endParaRPr lang="en-IN" sz="1600" b="0" i="1" u="none" strike="noStrike" dirty="0">
                        <a:solidFill>
                          <a:srgbClr val="313533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0" u="none" strike="noStrike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Wood Apple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endParaRPr lang="en-IN" sz="1600" dirty="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24784029"/>
                  </a:ext>
                </a:extLst>
              </a:tr>
              <a:tr h="845891"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IN" sz="1600" dirty="0">
                          <a:effectLst/>
                        </a:rPr>
                        <a:t>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1" u="none" strike="noStrike" dirty="0" err="1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Madhuca</a:t>
                      </a:r>
                      <a:r>
                        <a:rPr lang="en-IN" sz="1600" b="0" i="1" u="none" strike="noStrike" dirty="0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 indica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0" u="none" strike="noStrike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Indian Butter Tree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endParaRPr lang="en-IN" sz="1600" dirty="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23191039"/>
                  </a:ext>
                </a:extLst>
              </a:tr>
              <a:tr h="845891"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IN" sz="1600" dirty="0">
                          <a:effectLst/>
                        </a:rPr>
                        <a:t>13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1" u="none" strike="noStrike" dirty="0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Melia </a:t>
                      </a:r>
                      <a:r>
                        <a:rPr lang="en-IN" sz="1600" b="0" i="1" u="none" strike="noStrike" dirty="0" err="1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dubia</a:t>
                      </a:r>
                      <a:endParaRPr lang="en-IN" sz="1600" b="0" i="1" u="none" strike="noStrike" dirty="0">
                        <a:solidFill>
                          <a:srgbClr val="313533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0" u="none" strike="noStrike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Malabar Neem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endParaRPr lang="en-IN" sz="1600" dirty="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13842573"/>
                  </a:ext>
                </a:extLst>
              </a:tr>
              <a:tr h="845891"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IN" sz="1600" dirty="0">
                          <a:effectLst/>
                        </a:rPr>
                        <a:t>14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1" u="none" strike="noStrike" dirty="0" err="1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Neolamarckia</a:t>
                      </a:r>
                      <a:r>
                        <a:rPr lang="en-IN" sz="1600" b="0" i="1" u="none" strike="noStrike" dirty="0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 </a:t>
                      </a:r>
                      <a:r>
                        <a:rPr lang="en-IN" sz="1600" b="0" i="1" u="none" strike="noStrike" dirty="0" err="1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cadamba</a:t>
                      </a:r>
                      <a:endParaRPr lang="en-IN" sz="1600" b="0" i="1" u="none" strike="noStrike" dirty="0">
                        <a:solidFill>
                          <a:srgbClr val="313533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0" u="none" strike="noStrike" dirty="0" err="1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Burrflower</a:t>
                      </a:r>
                      <a:r>
                        <a:rPr lang="en-IN" sz="1600" b="0" i="0" u="none" strike="noStrike" dirty="0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 tree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endParaRPr lang="en-IN" sz="1600" dirty="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34135875"/>
                  </a:ext>
                </a:extLst>
              </a:tr>
            </a:tbl>
          </a:graphicData>
        </a:graphic>
      </p:graphicFrame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520C0E02-326C-5CB1-AD88-6E50A935E12F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570511566"/>
              </p:ext>
            </p:extLst>
          </p:nvPr>
        </p:nvGraphicFramePr>
        <p:xfrm>
          <a:off x="179438" y="197710"/>
          <a:ext cx="5916562" cy="65164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2402">
                  <a:extLst>
                    <a:ext uri="{9D8B030D-6E8A-4147-A177-3AD203B41FA5}">
                      <a16:colId xmlns:a16="http://schemas.microsoft.com/office/drawing/2014/main" val="3569931508"/>
                    </a:ext>
                  </a:extLst>
                </a:gridCol>
                <a:gridCol w="2040521">
                  <a:extLst>
                    <a:ext uri="{9D8B030D-6E8A-4147-A177-3AD203B41FA5}">
                      <a16:colId xmlns:a16="http://schemas.microsoft.com/office/drawing/2014/main" val="1898359155"/>
                    </a:ext>
                  </a:extLst>
                </a:gridCol>
                <a:gridCol w="1824498">
                  <a:extLst>
                    <a:ext uri="{9D8B030D-6E8A-4147-A177-3AD203B41FA5}">
                      <a16:colId xmlns:a16="http://schemas.microsoft.com/office/drawing/2014/main" val="1283444939"/>
                    </a:ext>
                  </a:extLst>
                </a:gridCol>
                <a:gridCol w="1479141">
                  <a:extLst>
                    <a:ext uri="{9D8B030D-6E8A-4147-A177-3AD203B41FA5}">
                      <a16:colId xmlns:a16="http://schemas.microsoft.com/office/drawing/2014/main" val="3296130687"/>
                    </a:ext>
                  </a:extLst>
                </a:gridCol>
              </a:tblGrid>
              <a:tr h="59525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1" dirty="0">
                          <a:effectLst/>
                        </a:rPr>
                        <a:t>Sr. No.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1" dirty="0">
                          <a:effectLst/>
                        </a:rPr>
                        <a:t>Scientific 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50000"/>
                        </a:lnSpc>
                        <a:buNone/>
                      </a:pPr>
                      <a:r>
                        <a:rPr lang="en-IN" sz="1600" b="1" dirty="0">
                          <a:effectLst/>
                        </a:rPr>
                        <a:t>Common 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1" dirty="0">
                          <a:effectLst/>
                        </a:rPr>
                        <a:t>QR Code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91699356"/>
                  </a:ext>
                </a:extLst>
              </a:tr>
              <a:tr h="845891">
                <a:tc>
                  <a:txBody>
                    <a:bodyPr/>
                    <a:lstStyle/>
                    <a:p>
                      <a:pPr marL="342900" indent="-342900" fontAlgn="ctr">
                        <a:buFont typeface="+mj-lt"/>
                        <a:buAutoNum type="arabicPeriod"/>
                      </a:pPr>
                      <a:endParaRPr lang="en-IN" sz="1600" dirty="0">
                        <a:effectLst/>
                      </a:endParaRPr>
                    </a:p>
                    <a:p>
                      <a:pPr marL="0" indent="0" fontAlgn="ctr">
                        <a:buFont typeface="+mj-lt"/>
                        <a:buNone/>
                      </a:pPr>
                      <a:r>
                        <a:rPr lang="en-IN" sz="1600" dirty="0">
                          <a:effectLst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1" u="none" strike="noStrike" dirty="0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Aegle </a:t>
                      </a:r>
                      <a:r>
                        <a:rPr lang="en-IN" sz="1600" b="0" i="1" u="none" strike="noStrike" dirty="0" err="1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marmelos</a:t>
                      </a:r>
                      <a:endParaRPr lang="en-IN" sz="1600" b="0" i="1" u="none" strike="noStrike" dirty="0">
                        <a:solidFill>
                          <a:srgbClr val="313533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0" u="none" strike="noStrike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Wood Apple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endParaRPr lang="en-IN" sz="1600" dirty="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91725259"/>
                  </a:ext>
                </a:extLst>
              </a:tr>
              <a:tr h="845891"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IN" sz="1600" dirty="0">
                          <a:effectLst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1" u="none" strike="noStrike" dirty="0" err="1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Alstonia</a:t>
                      </a:r>
                      <a:r>
                        <a:rPr lang="en-IN" sz="1600" b="0" i="1" u="none" strike="noStrike" dirty="0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 </a:t>
                      </a:r>
                      <a:r>
                        <a:rPr lang="en-IN" sz="1600" b="0" i="1" u="none" strike="noStrike" dirty="0" err="1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scholaris</a:t>
                      </a:r>
                      <a:endParaRPr lang="en-IN" sz="1600" b="0" i="1" u="none" strike="noStrike" dirty="0">
                        <a:solidFill>
                          <a:srgbClr val="313533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0" u="none" strike="noStrike" dirty="0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Blackboard Tree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endParaRPr lang="en-IN" sz="1600" dirty="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781499"/>
                  </a:ext>
                </a:extLst>
              </a:tr>
              <a:tr h="845891"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IN" sz="1600" dirty="0">
                          <a:effectLst/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1" u="none" strike="noStrike" dirty="0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Anacardium occidentale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0" u="none" strike="noStrike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Cashew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endParaRPr lang="en-IN" sz="1600" dirty="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2545687"/>
                  </a:ext>
                </a:extLst>
              </a:tr>
              <a:tr h="845891"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IN" sz="1600" dirty="0">
                          <a:effectLst/>
                        </a:rPr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1" u="none" strike="noStrike" dirty="0" err="1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Azadirachta</a:t>
                      </a:r>
                      <a:r>
                        <a:rPr lang="en-IN" sz="1600" b="0" i="1" u="none" strike="noStrike" dirty="0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 indica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0" u="none" strike="noStrike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Neem Tree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endParaRPr lang="en-IN" sz="1600" dirty="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24784029"/>
                  </a:ext>
                </a:extLst>
              </a:tr>
              <a:tr h="845891"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IN" sz="1600" dirty="0">
                          <a:effectLst/>
                        </a:rPr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1" u="none" strike="noStrike" dirty="0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Bauhinia variegata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0" u="none" strike="noStrike" dirty="0" err="1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Kachnar</a:t>
                      </a:r>
                      <a:r>
                        <a:rPr lang="en-IN" sz="1600" b="0" i="0" u="none" strike="noStrike" dirty="0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, Orchid Tree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endParaRPr lang="en-IN" sz="1600" dirty="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23191039"/>
                  </a:ext>
                </a:extLst>
              </a:tr>
              <a:tr h="845891"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IN" sz="1600" dirty="0">
                          <a:effectLst/>
                        </a:rPr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1" u="none" strike="noStrike" dirty="0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Butea </a:t>
                      </a:r>
                      <a:r>
                        <a:rPr lang="en-IN" sz="1600" b="0" i="1" u="none" strike="noStrike" dirty="0" err="1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monosperma</a:t>
                      </a:r>
                      <a:endParaRPr lang="en-IN" sz="1600" b="0" i="1" u="none" strike="noStrike" dirty="0">
                        <a:solidFill>
                          <a:srgbClr val="313533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0" u="none" strike="noStrike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Flame of the Forest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endParaRPr lang="en-IN" sz="1600" dirty="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13842573"/>
                  </a:ext>
                </a:extLst>
              </a:tr>
              <a:tr h="845891"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IN" sz="1600" dirty="0">
                          <a:effectLst/>
                        </a:rPr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1" u="none" strike="noStrike" dirty="0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Cassia fistula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0" u="none" strike="noStrike" dirty="0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Golden shower tree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endParaRPr lang="en-IN" sz="1600" dirty="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34135875"/>
                  </a:ext>
                </a:extLst>
              </a:tr>
            </a:tbl>
          </a:graphicData>
        </a:graphic>
      </p:graphicFrame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EF5A16AB-282D-3D86-EFB3-3CFE19C8EA03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8108" y="829469"/>
            <a:ext cx="740251" cy="74025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430FD1C-7858-4C7F-82E3-85E937693C7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8108" y="1720215"/>
            <a:ext cx="740251" cy="74025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C28DFA8-7781-B1AF-2415-0FF185C7758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8107" y="2532736"/>
            <a:ext cx="740252" cy="74025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72D0393-287E-4842-2D55-3C45ED5BA7B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8105" y="3356886"/>
            <a:ext cx="740253" cy="740253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39D4E03A-C027-48A2-AA65-1CAB7EB2ECC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8104" y="4236004"/>
            <a:ext cx="740253" cy="740253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19DDEB20-F116-633C-88AC-AFB52B40B91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6309" y="5060154"/>
            <a:ext cx="740253" cy="740253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A445DAEB-296F-2B7D-5584-4A5CA533A2D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99923" y="5939272"/>
            <a:ext cx="728433" cy="728433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47FF8F05-3950-B9A7-C22E-2A4FD452C125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9122" y="868680"/>
            <a:ext cx="701040" cy="70104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E08C414B-253A-2F8D-2C65-4E029B8AB98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3882" y="1720215"/>
            <a:ext cx="701040" cy="701040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7CB79FED-A584-773E-FA70-970FE0C55EC4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08320" y="2536387"/>
            <a:ext cx="736601" cy="736601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E5439558-ACEB-8B3F-F97A-96F250512078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08319" y="3388120"/>
            <a:ext cx="736601" cy="736601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09CDAD4F-47F9-2B8B-B375-88CB500FF6F3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23560" y="4228837"/>
            <a:ext cx="736601" cy="736601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6C0C2DD7-9B3B-0359-7CC5-04D249F7E986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23560" y="5069554"/>
            <a:ext cx="721360" cy="721360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C9862F50-59AC-3843-425E-5EC265E7A502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3882" y="5939272"/>
            <a:ext cx="721018" cy="721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50473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3F763A-87E3-0F53-81DB-13D39DC826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4">
            <a:extLst>
              <a:ext uri="{FF2B5EF4-FFF2-40B4-BE49-F238E27FC236}">
                <a16:creationId xmlns:a16="http://schemas.microsoft.com/office/drawing/2014/main" id="{BCE7F66E-F919-6650-41B6-E6F449A208D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00992538"/>
              </p:ext>
            </p:extLst>
          </p:nvPr>
        </p:nvGraphicFramePr>
        <p:xfrm>
          <a:off x="6168758" y="190295"/>
          <a:ext cx="5916562" cy="14411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2402">
                  <a:extLst>
                    <a:ext uri="{9D8B030D-6E8A-4147-A177-3AD203B41FA5}">
                      <a16:colId xmlns:a16="http://schemas.microsoft.com/office/drawing/2014/main" val="3569931508"/>
                    </a:ext>
                  </a:extLst>
                </a:gridCol>
                <a:gridCol w="2040521">
                  <a:extLst>
                    <a:ext uri="{9D8B030D-6E8A-4147-A177-3AD203B41FA5}">
                      <a16:colId xmlns:a16="http://schemas.microsoft.com/office/drawing/2014/main" val="1898359155"/>
                    </a:ext>
                  </a:extLst>
                </a:gridCol>
                <a:gridCol w="1824498">
                  <a:extLst>
                    <a:ext uri="{9D8B030D-6E8A-4147-A177-3AD203B41FA5}">
                      <a16:colId xmlns:a16="http://schemas.microsoft.com/office/drawing/2014/main" val="1283444939"/>
                    </a:ext>
                  </a:extLst>
                </a:gridCol>
                <a:gridCol w="1479141">
                  <a:extLst>
                    <a:ext uri="{9D8B030D-6E8A-4147-A177-3AD203B41FA5}">
                      <a16:colId xmlns:a16="http://schemas.microsoft.com/office/drawing/2014/main" val="3296130687"/>
                    </a:ext>
                  </a:extLst>
                </a:gridCol>
              </a:tblGrid>
              <a:tr h="59525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1" dirty="0">
                          <a:effectLst/>
                        </a:rPr>
                        <a:t>Sr. No.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1" dirty="0">
                          <a:effectLst/>
                        </a:rPr>
                        <a:t>Scientific 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50000"/>
                        </a:lnSpc>
                        <a:buNone/>
                      </a:pPr>
                      <a:r>
                        <a:rPr lang="en-IN" sz="1600" b="1" dirty="0">
                          <a:effectLst/>
                        </a:rPr>
                        <a:t>Common 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1" dirty="0">
                          <a:effectLst/>
                        </a:rPr>
                        <a:t>QR Code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91699356"/>
                  </a:ext>
                </a:extLst>
              </a:tr>
              <a:tr h="845891">
                <a:tc>
                  <a:txBody>
                    <a:bodyPr/>
                    <a:lstStyle/>
                    <a:p>
                      <a:pPr marL="0" indent="0" fontAlgn="ctr">
                        <a:buFont typeface="+mj-lt"/>
                        <a:buNone/>
                      </a:pPr>
                      <a:r>
                        <a:rPr lang="en-IN" sz="1600" dirty="0">
                          <a:effectLst/>
                        </a:rPr>
                        <a:t>22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1" u="none" strike="noStrike" dirty="0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Toona </a:t>
                      </a:r>
                      <a:r>
                        <a:rPr lang="en-IN" sz="1600" b="0" i="1" u="none" strike="noStrike" dirty="0" err="1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ciliata</a:t>
                      </a:r>
                      <a:endParaRPr lang="en-IN" sz="1600" b="0" i="1" u="none" strike="noStrike" dirty="0">
                        <a:solidFill>
                          <a:srgbClr val="313533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0" u="none" strike="noStrike" dirty="0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Indian mahogany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endParaRPr lang="en-IN" sz="1600" dirty="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91725259"/>
                  </a:ext>
                </a:extLst>
              </a:tr>
            </a:tbl>
          </a:graphicData>
        </a:graphic>
      </p:graphicFrame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B4ABC773-DAB1-D523-3FB9-5384C3F8D7FB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2035447567"/>
              </p:ext>
            </p:extLst>
          </p:nvPr>
        </p:nvGraphicFramePr>
        <p:xfrm>
          <a:off x="164198" y="190295"/>
          <a:ext cx="5916562" cy="65164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2402">
                  <a:extLst>
                    <a:ext uri="{9D8B030D-6E8A-4147-A177-3AD203B41FA5}">
                      <a16:colId xmlns:a16="http://schemas.microsoft.com/office/drawing/2014/main" val="3569931508"/>
                    </a:ext>
                  </a:extLst>
                </a:gridCol>
                <a:gridCol w="2040521">
                  <a:extLst>
                    <a:ext uri="{9D8B030D-6E8A-4147-A177-3AD203B41FA5}">
                      <a16:colId xmlns:a16="http://schemas.microsoft.com/office/drawing/2014/main" val="1898359155"/>
                    </a:ext>
                  </a:extLst>
                </a:gridCol>
                <a:gridCol w="1824498">
                  <a:extLst>
                    <a:ext uri="{9D8B030D-6E8A-4147-A177-3AD203B41FA5}">
                      <a16:colId xmlns:a16="http://schemas.microsoft.com/office/drawing/2014/main" val="1283444939"/>
                    </a:ext>
                  </a:extLst>
                </a:gridCol>
                <a:gridCol w="1479141">
                  <a:extLst>
                    <a:ext uri="{9D8B030D-6E8A-4147-A177-3AD203B41FA5}">
                      <a16:colId xmlns:a16="http://schemas.microsoft.com/office/drawing/2014/main" val="3296130687"/>
                    </a:ext>
                  </a:extLst>
                </a:gridCol>
              </a:tblGrid>
              <a:tr h="59525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1" dirty="0">
                          <a:effectLst/>
                        </a:rPr>
                        <a:t>Sr. No.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1" dirty="0">
                          <a:effectLst/>
                        </a:rPr>
                        <a:t>Scientific 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50000"/>
                        </a:lnSpc>
                        <a:buNone/>
                      </a:pPr>
                      <a:r>
                        <a:rPr lang="en-IN" sz="1600" b="1" dirty="0">
                          <a:effectLst/>
                        </a:rPr>
                        <a:t>Common 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1" dirty="0">
                          <a:effectLst/>
                        </a:rPr>
                        <a:t>QR Code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91699356"/>
                  </a:ext>
                </a:extLst>
              </a:tr>
              <a:tr h="845891">
                <a:tc>
                  <a:txBody>
                    <a:bodyPr/>
                    <a:lstStyle/>
                    <a:p>
                      <a:pPr marL="342900" indent="-342900" fontAlgn="ctr">
                        <a:buFont typeface="+mj-lt"/>
                        <a:buAutoNum type="arabicPeriod"/>
                      </a:pPr>
                      <a:endParaRPr lang="en-IN" sz="1600" dirty="0">
                        <a:effectLst/>
                      </a:endParaRPr>
                    </a:p>
                    <a:p>
                      <a:pPr marL="0" indent="0" fontAlgn="ctr">
                        <a:buFont typeface="+mj-lt"/>
                        <a:buNone/>
                      </a:pPr>
                      <a:r>
                        <a:rPr lang="en-IN" sz="1600" dirty="0">
                          <a:effectLst/>
                        </a:rPr>
                        <a:t>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1" u="none" strike="noStrike" dirty="0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Phyllanthus </a:t>
                      </a:r>
                      <a:r>
                        <a:rPr lang="en-IN" sz="1600" b="0" i="1" u="none" strike="noStrike" dirty="0" err="1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emblica</a:t>
                      </a:r>
                      <a:endParaRPr lang="en-IN" sz="1600" b="0" i="1" u="none" strike="noStrike" dirty="0">
                        <a:solidFill>
                          <a:srgbClr val="313533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0" u="none" strike="noStrike" dirty="0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Indian gooseberry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endParaRPr lang="en-IN" sz="1600" dirty="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91725259"/>
                  </a:ext>
                </a:extLst>
              </a:tr>
              <a:tr h="845891"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IN" sz="1600" dirty="0">
                          <a:effectLst/>
                        </a:rPr>
                        <a:t>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1" u="none" strike="noStrike" dirty="0" err="1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Pongamia</a:t>
                      </a:r>
                      <a:r>
                        <a:rPr lang="en-IN" sz="1600" b="0" i="1" u="none" strike="noStrike" dirty="0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 pinnata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0" u="none" strike="noStrike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Indian Beech Tree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endParaRPr lang="en-IN" sz="1600" dirty="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781499"/>
                  </a:ext>
                </a:extLst>
              </a:tr>
              <a:tr h="845891"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IN" sz="1600" dirty="0">
                          <a:effectLst/>
                        </a:rPr>
                        <a:t>17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1" u="none" strike="noStrike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Psidium guajava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0" u="none" strike="noStrike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Guava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endParaRPr lang="en-IN" sz="1600" dirty="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2545687"/>
                  </a:ext>
                </a:extLst>
              </a:tr>
              <a:tr h="845891"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IN" sz="1600" dirty="0">
                          <a:effectLst/>
                        </a:rPr>
                        <a:t>18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1" u="none" strike="noStrike" dirty="0" err="1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Putranjiva</a:t>
                      </a:r>
                      <a:r>
                        <a:rPr lang="en-IN" sz="1600" b="0" i="1" u="none" strike="noStrike" dirty="0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 </a:t>
                      </a:r>
                      <a:r>
                        <a:rPr lang="en-IN" sz="1600" b="0" i="1" u="none" strike="noStrike" dirty="0" err="1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roxburghii</a:t>
                      </a:r>
                      <a:endParaRPr lang="en-IN" sz="1600" b="0" i="1" u="none" strike="noStrike" dirty="0">
                        <a:solidFill>
                          <a:srgbClr val="313533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0" u="none" strike="noStrike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Lucky Bean Tree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endParaRPr lang="en-IN" sz="1600" dirty="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24784029"/>
                  </a:ext>
                </a:extLst>
              </a:tr>
              <a:tr h="845891"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IN" sz="1600" dirty="0">
                          <a:effectLst/>
                        </a:rPr>
                        <a:t>19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1" u="none" strike="noStrike" dirty="0" err="1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Syzygium</a:t>
                      </a:r>
                      <a:r>
                        <a:rPr lang="en-IN" sz="1600" b="0" i="1" u="none" strike="noStrike" dirty="0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 </a:t>
                      </a:r>
                      <a:r>
                        <a:rPr lang="en-IN" sz="1600" b="0" i="1" u="none" strike="noStrike" dirty="0" err="1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cumini</a:t>
                      </a:r>
                      <a:endParaRPr lang="en-IN" sz="1600" b="0" i="1" u="none" strike="noStrike" dirty="0">
                        <a:solidFill>
                          <a:srgbClr val="313533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0" u="none" strike="noStrike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Java plum, Jamun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endParaRPr lang="en-IN" sz="1600" dirty="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23191039"/>
                  </a:ext>
                </a:extLst>
              </a:tr>
              <a:tr h="845891"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IN" sz="1600" dirty="0">
                          <a:effectLst/>
                        </a:rPr>
                        <a:t>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1" u="none" strike="noStrike" dirty="0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Tamarindus indica L.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0" u="none" strike="noStrike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Tamarind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endParaRPr lang="en-IN" sz="1600" dirty="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13842573"/>
                  </a:ext>
                </a:extLst>
              </a:tr>
              <a:tr h="845891"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IN" sz="1600" dirty="0">
                          <a:effectLst/>
                        </a:rPr>
                        <a:t>21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1" u="none" strike="noStrike" dirty="0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Terminalia arjuna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0" u="none" strike="noStrike" dirty="0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White </a:t>
                      </a:r>
                      <a:r>
                        <a:rPr lang="en-IN" sz="1600" b="0" i="0" u="none" strike="noStrike" dirty="0" err="1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Murdah</a:t>
                      </a:r>
                      <a:endParaRPr lang="en-IN" sz="1600" b="0" i="0" u="none" strike="noStrike" dirty="0">
                        <a:solidFill>
                          <a:srgbClr val="313533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endParaRPr lang="en-IN" sz="1600" dirty="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34135875"/>
                  </a:ext>
                </a:extLst>
              </a:tr>
            </a:tbl>
          </a:graphicData>
        </a:graphic>
      </p:graphicFrame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554892EE-A8EA-E9BD-9A87-9F351A1BA9C3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68240" y="854203"/>
            <a:ext cx="731520" cy="73152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C49CB95-8B5D-0282-DCE1-F0E6DEB6421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6807" y="1692403"/>
            <a:ext cx="762953" cy="76295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3C19207-B7C9-D657-B468-13E8CA9D97D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6806" y="2531556"/>
            <a:ext cx="762953" cy="76295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BD3A8B5-09EF-06C1-0CAF-958A1EEE8AB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6806" y="3370709"/>
            <a:ext cx="762953" cy="762953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5E74CF09-C989-3DC8-222C-B1F04EA3E57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4134" y="4217982"/>
            <a:ext cx="762953" cy="762953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CBD6D3E4-A964-CAB4-7EC0-A7830A50447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45932" y="5057135"/>
            <a:ext cx="731520" cy="73152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79676044-E4F2-7822-F5B6-EB539DA88DF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47653" y="5928121"/>
            <a:ext cx="731520" cy="73152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4B4C2AFB-592B-F393-F076-68D933E18FFA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84801" y="854203"/>
            <a:ext cx="743319" cy="743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62940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</TotalTime>
  <Words>169</Words>
  <Application>Microsoft Office PowerPoint</Application>
  <PresentationFormat>Widescreen</PresentationFormat>
  <Paragraphs>87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Amruta Chavan</dc:creator>
  <cp:lastModifiedBy>Amruta Chavan ONF</cp:lastModifiedBy>
  <cp:revision>8</cp:revision>
  <dcterms:created xsi:type="dcterms:W3CDTF">2026-02-24T05:44:18Z</dcterms:created>
  <dcterms:modified xsi:type="dcterms:W3CDTF">2026-05-29T07:07:03Z</dcterms:modified>
</cp:coreProperties>
</file>