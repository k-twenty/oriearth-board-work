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0" d="100"/>
          <a:sy n="50" d="100"/>
        </p:scale>
        <p:origin x="67" y="6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90E66-5C3D-AF1E-0BF9-A53B3505B4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8EABF8-C740-E762-D174-C48382449F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99E60D-7083-51F6-075F-83BBCF381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A6F91-1285-45B2-84DC-2A5E844D6EE8}" type="datetimeFigureOut">
              <a:rPr lang="en-GB" smtClean="0"/>
              <a:t>29/05/2026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336410-9162-063B-EE16-ABC735935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8217BD-582A-2DDB-1FBF-EBAF9B41E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14FD1-4C9A-4AB7-8E4B-D45CDF7448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6584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62974-45CF-DAA8-C6B2-D08EE7729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964FCA-25B8-F25B-B4A5-DB950F2386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0C7408-B460-CBF5-02B2-2F6FBE8C5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A6F91-1285-45B2-84DC-2A5E844D6EE8}" type="datetimeFigureOut">
              <a:rPr lang="en-GB" smtClean="0"/>
              <a:t>29/05/2026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930BF7-CCF0-38BB-8348-E39CCC4C8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67970B-B0F4-208F-8DD6-BFEEEEFA4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14FD1-4C9A-4AB7-8E4B-D45CDF7448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6768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32A82-ECFC-7B2E-9FEF-B51C2EDAE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577398-3549-854A-69C8-A6D4FC2BCA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47F855-B4D2-22B7-A5D9-F4C259FD2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A6F91-1285-45B2-84DC-2A5E844D6EE8}" type="datetimeFigureOut">
              <a:rPr lang="en-GB" smtClean="0"/>
              <a:t>29/05/2026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D4EE9D-380A-20FF-E406-81F573078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CE18AB-0A65-88F5-B9DB-78E36C77F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14FD1-4C9A-4AB7-8E4B-D45CDF7448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64728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0FFCC-691D-A77B-C39C-CD60EB15E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C5753A-ADD5-1AFF-381B-F703B6EA23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9EFD57-78A2-BE69-4375-E1999A5AD6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A26AC7-3EB1-5854-84C5-369645A7B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A6F91-1285-45B2-84DC-2A5E844D6EE8}" type="datetimeFigureOut">
              <a:rPr lang="en-GB" smtClean="0"/>
              <a:t>29/05/2026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E33E32-6808-C31D-5137-489FE4734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2B34DD-E066-B020-59B5-AA23A19A6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14FD1-4C9A-4AB7-8E4B-D45CDF7448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77231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8CB6A-A70A-F8F4-20D0-CDA3C9480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D43404-A6FA-FB2F-0553-D78CEB1C93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23AC35-82C6-20F1-0FAC-5EAE18A05A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20B6B6-88F5-2620-D382-9E35ED1C8B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0CE219-738F-41AE-44C7-C62CCE8AFB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86E24E-A795-40D5-19F6-934BED01D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A6F91-1285-45B2-84DC-2A5E844D6EE8}" type="datetimeFigureOut">
              <a:rPr lang="en-GB" smtClean="0"/>
              <a:t>29/05/2026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346F9B-AE1A-3481-2A63-EBB0E12EC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FE71AD-0DBD-4D19-2DA5-A20305921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14FD1-4C9A-4AB7-8E4B-D45CDF7448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58635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95FA9-E640-9BD6-03F8-68F546813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8A30E6-E10C-6F00-1C7B-FA39919CE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A6F91-1285-45B2-84DC-2A5E844D6EE8}" type="datetimeFigureOut">
              <a:rPr lang="en-GB" smtClean="0"/>
              <a:t>29/05/2026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7DBF12-2C4B-2DDA-ED4F-1D7A946FF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1A7C2A-D34F-E4D9-E033-420C1CFD7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14FD1-4C9A-4AB7-8E4B-D45CDF7448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7843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060E78-E6C7-798B-9359-ADE1637E9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A6F91-1285-45B2-84DC-2A5E844D6EE8}" type="datetimeFigureOut">
              <a:rPr lang="en-GB" smtClean="0"/>
              <a:t>29/05/2026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0563B1-3FFC-157D-5FAE-F162232A8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F69D7F-8355-8BFF-5065-564B728AF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14FD1-4C9A-4AB7-8E4B-D45CDF7448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6755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EE395-7114-B14F-E49D-B8ABAF343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5F938F-00E5-E65A-3E9C-9D5CD8410E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0AFF93-A31E-EB6E-2266-A3B1B858CB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6F2C2A-AF5B-0EFF-7B03-C3811D8FC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A6F91-1285-45B2-84DC-2A5E844D6EE8}" type="datetimeFigureOut">
              <a:rPr lang="en-GB" smtClean="0"/>
              <a:t>29/05/2026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F1F4C4-A480-A950-0C9B-850EECF0B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86386F-CFF8-9206-FD2A-E77FEF84E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14FD1-4C9A-4AB7-8E4B-D45CDF7448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3105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1B279-5872-2CA2-A2D5-A812B978C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E88AEC-9A65-2232-2FEF-D6BC3DF9D1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F6CE10-2EBE-F3A8-AA9C-D94FD632BB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3C6C30-5767-5633-FD15-539F72077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A6F91-1285-45B2-84DC-2A5E844D6EE8}" type="datetimeFigureOut">
              <a:rPr lang="en-GB" smtClean="0"/>
              <a:t>29/05/2026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8543DD-C068-F098-463D-71DCA577E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D7A2EA-7AB0-832C-F11E-787A2B00A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14FD1-4C9A-4AB7-8E4B-D45CDF7448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9010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441F3-651A-C983-C326-820917E85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43D643-2C75-6B03-B37B-76B10AB391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2F5A9C-5958-4C69-F679-B905B4E51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A6F91-1285-45B2-84DC-2A5E844D6EE8}" type="datetimeFigureOut">
              <a:rPr lang="en-GB" smtClean="0"/>
              <a:t>29/05/2026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338BC3-2559-0755-FBE9-FA52A8EC3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00E0C3-F256-260B-A7A8-DFF96467E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14FD1-4C9A-4AB7-8E4B-D45CDF7448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17570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76DDAE-404E-899B-17E0-DB7757A267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4FF05C-41B6-E613-4872-27E93380BF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290339-3D9C-3098-CF74-B8B16E663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A6F91-1285-45B2-84DC-2A5E844D6EE8}" type="datetimeFigureOut">
              <a:rPr lang="en-GB" smtClean="0"/>
              <a:t>29/05/2026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F014C5-3D10-B81A-0756-6E136F027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76E505-6AE3-4FF6-52D5-235F9166A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14FD1-4C9A-4AB7-8E4B-D45CDF7448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50955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9785DA-CD4E-7D2F-E092-207C1FEAE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D160CD-C8D3-62CF-6C9A-9893476F61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8DFE3A-2D5B-B5AF-7176-959BCFC751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5A6F91-1285-45B2-84DC-2A5E844D6EE8}" type="datetimeFigureOut">
              <a:rPr lang="en-GB" smtClean="0"/>
              <a:t>29/05/2026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E2536E-034B-36A7-8D08-E678562602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08129E-A2B0-CF20-285B-7D9C9A9D2C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B14FD1-4C9A-4AB7-8E4B-D45CDF7448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1177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5" Type="http://schemas.openxmlformats.org/officeDocument/2006/relationships/image" Target="../media/image3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Relationship Id="rId14" Type="http://schemas.openxmlformats.org/officeDocument/2006/relationships/image" Target="../media/image3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2E4D3-C9AE-8303-EF9F-71207DBDA2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0EF3BA-CC09-FB59-0799-80B0C0F649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2929607-1AE3-2DF8-5595-F974B406316D}"/>
              </a:ext>
            </a:extLst>
          </p:cNvPr>
          <p:cNvSpPr txBox="1">
            <a:spLocks/>
          </p:cNvSpPr>
          <p:nvPr/>
        </p:nvSpPr>
        <p:spPr>
          <a:xfrm>
            <a:off x="3252664" y="274249"/>
            <a:ext cx="6296270" cy="73245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6930" b="1">
                <a:solidFill>
                  <a:schemeClr val="bg1"/>
                </a:solidFill>
              </a:rPr>
              <a:t>IONIQ Forest</a:t>
            </a:r>
            <a:endParaRPr lang="en-GB" sz="6930" b="1" dirty="0">
              <a:solidFill>
                <a:schemeClr val="bg1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197817C-0326-616F-CAAD-C0FC8E90BF18}"/>
              </a:ext>
            </a:extLst>
          </p:cNvPr>
          <p:cNvSpPr txBox="1">
            <a:spLocks/>
          </p:cNvSpPr>
          <p:nvPr/>
        </p:nvSpPr>
        <p:spPr>
          <a:xfrm>
            <a:off x="3938555" y="1154414"/>
            <a:ext cx="4924487" cy="732450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5700" dirty="0">
                <a:solidFill>
                  <a:schemeClr val="bg1"/>
                </a:solidFill>
              </a:rPr>
              <a:t>Grid – F  Zones 1 -10</a:t>
            </a:r>
          </a:p>
          <a:p>
            <a:endParaRPr lang="en-GB" sz="5040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C2A498-8AE2-2663-D2CF-7DA0821C46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83" y="274249"/>
            <a:ext cx="2280024" cy="120171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A8C11AB-BB0A-7A0C-ED59-C52EACF600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6742" y="255183"/>
            <a:ext cx="1201709" cy="120170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D4AF345-962A-1589-5FD2-A820004032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9703" y="274249"/>
            <a:ext cx="1201709" cy="120170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9B6EAA3-FAD5-5DF0-0D06-49CBDB53CD1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8503" y="274249"/>
            <a:ext cx="1201710" cy="1201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3644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8914DE4E-A034-A603-F7B7-50F334AF853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54268582"/>
              </p:ext>
            </p:extLst>
          </p:nvPr>
        </p:nvGraphicFramePr>
        <p:xfrm>
          <a:off x="6172200" y="178821"/>
          <a:ext cx="5916562" cy="65003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2402">
                  <a:extLst>
                    <a:ext uri="{9D8B030D-6E8A-4147-A177-3AD203B41FA5}">
                      <a16:colId xmlns:a16="http://schemas.microsoft.com/office/drawing/2014/main" val="3569931508"/>
                    </a:ext>
                  </a:extLst>
                </a:gridCol>
                <a:gridCol w="2040521">
                  <a:extLst>
                    <a:ext uri="{9D8B030D-6E8A-4147-A177-3AD203B41FA5}">
                      <a16:colId xmlns:a16="http://schemas.microsoft.com/office/drawing/2014/main" val="1898359155"/>
                    </a:ext>
                  </a:extLst>
                </a:gridCol>
                <a:gridCol w="1824498">
                  <a:extLst>
                    <a:ext uri="{9D8B030D-6E8A-4147-A177-3AD203B41FA5}">
                      <a16:colId xmlns:a16="http://schemas.microsoft.com/office/drawing/2014/main" val="1283444939"/>
                    </a:ext>
                  </a:extLst>
                </a:gridCol>
                <a:gridCol w="1479141">
                  <a:extLst>
                    <a:ext uri="{9D8B030D-6E8A-4147-A177-3AD203B41FA5}">
                      <a16:colId xmlns:a16="http://schemas.microsoft.com/office/drawing/2014/main" val="3296130687"/>
                    </a:ext>
                  </a:extLst>
                </a:gridCol>
              </a:tblGrid>
              <a:tr h="54171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1" dirty="0">
                          <a:effectLst/>
                        </a:rPr>
                        <a:t>Sr. 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1" dirty="0">
                          <a:effectLst/>
                        </a:rPr>
                        <a:t>Scientific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  <a:buNone/>
                      </a:pPr>
                      <a:r>
                        <a:rPr lang="en-IN" sz="1600" b="1" dirty="0">
                          <a:effectLst/>
                        </a:rPr>
                        <a:t>Common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1" dirty="0">
                          <a:effectLst/>
                        </a:rPr>
                        <a:t>QR Code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1699356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marL="342900" indent="-342900" fontAlgn="ctr">
                        <a:buFont typeface="+mj-lt"/>
                        <a:buAutoNum type="arabicPeriod"/>
                      </a:pPr>
                      <a:endParaRPr lang="en-IN" sz="1600" dirty="0">
                        <a:effectLst/>
                      </a:endParaRPr>
                    </a:p>
                    <a:p>
                      <a:pPr marL="0" indent="0" fontAlgn="ctr">
                        <a:buFont typeface="+mj-lt"/>
                        <a:buNone/>
                      </a:pPr>
                      <a:r>
                        <a:rPr lang="en-IN" sz="1600" dirty="0">
                          <a:effectLst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Bombax ceiba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Silk Cotton Tree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1725259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Butea </a:t>
                      </a:r>
                      <a:r>
                        <a:rPr lang="en-IN" sz="1600" b="0" i="1" u="none" strike="noStrike" dirty="0" err="1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monosperma</a:t>
                      </a:r>
                      <a:endParaRPr lang="en-IN" sz="1600" b="0" i="1" u="none" strike="noStrike" dirty="0">
                        <a:solidFill>
                          <a:srgbClr val="313533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Flame of the Forest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81499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Cassia fistula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Golden shower tree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545687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Dalbergia sissoo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Indian rosewood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4784029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Ficus benghalensis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Banyan tree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3191039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Ficus racemosa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Cluster fig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3842573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Ficus religiosa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Bodhi Tree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4135875"/>
                  </a:ext>
                </a:extLst>
              </a:tr>
            </a:tbl>
          </a:graphicData>
        </a:graphic>
      </p:graphicFrame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20C0E02-326C-5CB1-AD88-6E50A935E12F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080068213"/>
              </p:ext>
            </p:extLst>
          </p:nvPr>
        </p:nvGraphicFramePr>
        <p:xfrm>
          <a:off x="179438" y="190295"/>
          <a:ext cx="5916562" cy="65164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2402">
                  <a:extLst>
                    <a:ext uri="{9D8B030D-6E8A-4147-A177-3AD203B41FA5}">
                      <a16:colId xmlns:a16="http://schemas.microsoft.com/office/drawing/2014/main" val="3569931508"/>
                    </a:ext>
                  </a:extLst>
                </a:gridCol>
                <a:gridCol w="2040521">
                  <a:extLst>
                    <a:ext uri="{9D8B030D-6E8A-4147-A177-3AD203B41FA5}">
                      <a16:colId xmlns:a16="http://schemas.microsoft.com/office/drawing/2014/main" val="1898359155"/>
                    </a:ext>
                  </a:extLst>
                </a:gridCol>
                <a:gridCol w="1824498">
                  <a:extLst>
                    <a:ext uri="{9D8B030D-6E8A-4147-A177-3AD203B41FA5}">
                      <a16:colId xmlns:a16="http://schemas.microsoft.com/office/drawing/2014/main" val="1283444939"/>
                    </a:ext>
                  </a:extLst>
                </a:gridCol>
                <a:gridCol w="1479141">
                  <a:extLst>
                    <a:ext uri="{9D8B030D-6E8A-4147-A177-3AD203B41FA5}">
                      <a16:colId xmlns:a16="http://schemas.microsoft.com/office/drawing/2014/main" val="3296130687"/>
                    </a:ext>
                  </a:extLst>
                </a:gridCol>
              </a:tblGrid>
              <a:tr h="59525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1" dirty="0">
                          <a:effectLst/>
                        </a:rPr>
                        <a:t>Sr. 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1" dirty="0">
                          <a:effectLst/>
                        </a:rPr>
                        <a:t>Scientific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  <a:buNone/>
                      </a:pPr>
                      <a:r>
                        <a:rPr lang="en-IN" sz="1600" b="1" dirty="0">
                          <a:effectLst/>
                        </a:rPr>
                        <a:t>Common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1" dirty="0">
                          <a:effectLst/>
                        </a:rPr>
                        <a:t>QR Code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1699356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marL="342900" indent="-342900" fontAlgn="ctr">
                        <a:buFont typeface="+mj-lt"/>
                        <a:buAutoNum type="arabicPeriod"/>
                      </a:pPr>
                      <a:endParaRPr lang="en-IN" sz="1600" dirty="0">
                        <a:effectLst/>
                      </a:endParaRPr>
                    </a:p>
                    <a:p>
                      <a:pPr marL="0" indent="0" fontAlgn="ctr">
                        <a:buFont typeface="+mj-lt"/>
                        <a:buNone/>
                      </a:pPr>
                      <a:r>
                        <a:rPr lang="en-IN" sz="1600" dirty="0">
                          <a:effectLst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 dirty="0" err="1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Adenanthera</a:t>
                      </a:r>
                      <a:r>
                        <a:rPr lang="en-IN" sz="1600" b="0" i="1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IN" sz="1600" b="0" i="1" u="none" strike="noStrike" dirty="0" err="1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pavonina</a:t>
                      </a:r>
                      <a:endParaRPr lang="en-IN" sz="1600" b="0" i="1" u="none" strike="noStrike" dirty="0">
                        <a:solidFill>
                          <a:srgbClr val="313533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Red Sandalwood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1725259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Aegle </a:t>
                      </a:r>
                      <a:r>
                        <a:rPr lang="en-IN" sz="1600" b="0" i="1" u="none" strike="noStrike" dirty="0" err="1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marmelos</a:t>
                      </a:r>
                      <a:endParaRPr lang="en-IN" sz="1600" b="0" i="1" u="none" strike="noStrike" dirty="0">
                        <a:solidFill>
                          <a:srgbClr val="313533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Wood Apple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81499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 dirty="0" err="1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Alstonia</a:t>
                      </a:r>
                      <a:r>
                        <a:rPr lang="en-IN" sz="1600" b="0" i="1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IN" sz="1600" b="0" i="1" u="none" strike="noStrike" dirty="0" err="1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scholaris</a:t>
                      </a:r>
                      <a:endParaRPr lang="en-IN" sz="1600" b="0" i="1" u="none" strike="noStrike" dirty="0">
                        <a:solidFill>
                          <a:srgbClr val="313533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Blackboard Tree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545687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Anacardium occidentale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Cashew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4784029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Annona squamosa L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Custard apple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3191039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 dirty="0" err="1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Azadirachta</a:t>
                      </a:r>
                      <a:r>
                        <a:rPr lang="en-IN" sz="1600" b="0" i="1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 indica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Neem Tree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3842573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Bauhinia variegata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Orchid Tree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4135875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00E5DBA0-8DDB-AEA3-E46C-96840EB0AC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3963" y="805815"/>
            <a:ext cx="826770" cy="82677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C3EDC00-F2C1-DDA8-0FD2-CA51745240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5390" y="1645920"/>
            <a:ext cx="826770" cy="82677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03ABD3B-CF67-20E1-0EF3-461A4CA3DE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5390" y="2528529"/>
            <a:ext cx="720090" cy="72009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22C0455-6EB8-4420-96DE-BD128C45DFA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3963" y="3399114"/>
            <a:ext cx="720090" cy="72009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277A7E1-5CEF-F226-9581-4F21F7EE0FA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5390" y="4236003"/>
            <a:ext cx="720090" cy="72009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B5AB2E1-7889-5FD4-8DC3-0226D13A4DD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3963" y="5072892"/>
            <a:ext cx="720090" cy="72009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C09B4D7-3E76-648C-D7EB-0134ACA7F8E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3963" y="5909781"/>
            <a:ext cx="720090" cy="72009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89948B6-3A6D-85D6-EB49-F016124B2C5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4240" y="822961"/>
            <a:ext cx="717816" cy="71781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EB2B30E-10C1-4340-7906-1BCE2D49043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4240" y="1645920"/>
            <a:ext cx="717816" cy="71781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451161EF-9D09-BE85-4E53-DB09101A95A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1310" y="2507873"/>
            <a:ext cx="740746" cy="740746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7EF95D2D-AD75-6F64-4475-2D89C538740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8444" y="3330832"/>
            <a:ext cx="788372" cy="788372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6D03FB8E-A7E7-794C-B9AB-2EF966E7EC7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2140" y="4201417"/>
            <a:ext cx="754676" cy="754676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70B439AC-336F-429A-AFCD-EC82B4FD4E9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8924" y="5038306"/>
            <a:ext cx="773132" cy="773132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22A88EAA-3F46-5F6F-D2A6-8E60AF8202D6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6071" y="5875195"/>
            <a:ext cx="773132" cy="773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0473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F763A-87E3-0F53-81DB-13D39DC82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BCE7F66E-F919-6650-41B6-E6F449A208D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52591111"/>
              </p:ext>
            </p:extLst>
          </p:nvPr>
        </p:nvGraphicFramePr>
        <p:xfrm>
          <a:off x="6275438" y="190295"/>
          <a:ext cx="5916562" cy="65164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2402">
                  <a:extLst>
                    <a:ext uri="{9D8B030D-6E8A-4147-A177-3AD203B41FA5}">
                      <a16:colId xmlns:a16="http://schemas.microsoft.com/office/drawing/2014/main" val="3569931508"/>
                    </a:ext>
                  </a:extLst>
                </a:gridCol>
                <a:gridCol w="2040521">
                  <a:extLst>
                    <a:ext uri="{9D8B030D-6E8A-4147-A177-3AD203B41FA5}">
                      <a16:colId xmlns:a16="http://schemas.microsoft.com/office/drawing/2014/main" val="1898359155"/>
                    </a:ext>
                  </a:extLst>
                </a:gridCol>
                <a:gridCol w="1824498">
                  <a:extLst>
                    <a:ext uri="{9D8B030D-6E8A-4147-A177-3AD203B41FA5}">
                      <a16:colId xmlns:a16="http://schemas.microsoft.com/office/drawing/2014/main" val="1283444939"/>
                    </a:ext>
                  </a:extLst>
                </a:gridCol>
                <a:gridCol w="1479141">
                  <a:extLst>
                    <a:ext uri="{9D8B030D-6E8A-4147-A177-3AD203B41FA5}">
                      <a16:colId xmlns:a16="http://schemas.microsoft.com/office/drawing/2014/main" val="3296130687"/>
                    </a:ext>
                  </a:extLst>
                </a:gridCol>
              </a:tblGrid>
              <a:tr h="59525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1" dirty="0">
                          <a:effectLst/>
                        </a:rPr>
                        <a:t>Sr. 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1" dirty="0">
                          <a:effectLst/>
                        </a:rPr>
                        <a:t>Scientific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  <a:buNone/>
                      </a:pPr>
                      <a:r>
                        <a:rPr lang="en-IN" sz="1600" b="1" dirty="0">
                          <a:effectLst/>
                        </a:rPr>
                        <a:t>Common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1" dirty="0">
                          <a:effectLst/>
                        </a:rPr>
                        <a:t>QR Code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1699356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marL="0" indent="0" fontAlgn="ctr">
                        <a:buFont typeface="+mj-lt"/>
                        <a:buNone/>
                      </a:pPr>
                      <a:r>
                        <a:rPr lang="en-IN" sz="1600" dirty="0">
                          <a:effectLst/>
                        </a:rPr>
                        <a:t>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 dirty="0" err="1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Mimusops</a:t>
                      </a:r>
                      <a:r>
                        <a:rPr lang="en-IN" sz="1600" b="0" i="1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IN" sz="1600" b="0" i="1" u="none" strike="noStrike" dirty="0" err="1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elengi</a:t>
                      </a:r>
                      <a:endParaRPr lang="en-IN" sz="1600" b="0" i="1" u="none" strike="noStrike" dirty="0">
                        <a:solidFill>
                          <a:srgbClr val="313533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Spanish cherry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1725259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Morus nigra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mulberry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81499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 dirty="0" err="1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Neolamarckia</a:t>
                      </a:r>
                      <a:r>
                        <a:rPr lang="en-IN" sz="1600" b="0" i="1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IN" sz="1600" b="0" i="1" u="none" strike="noStrike" dirty="0" err="1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cadamba</a:t>
                      </a:r>
                      <a:endParaRPr lang="en-IN" sz="1600" b="0" i="1" u="none" strike="noStrike" dirty="0">
                        <a:solidFill>
                          <a:srgbClr val="313533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Burrflower tree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545687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Phyllanthus </a:t>
                      </a:r>
                      <a:r>
                        <a:rPr lang="en-IN" sz="1600" b="0" i="1" u="none" strike="noStrike" dirty="0" err="1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emblica</a:t>
                      </a:r>
                      <a:endParaRPr lang="en-IN" sz="1600" b="0" i="1" u="none" strike="noStrike" dirty="0">
                        <a:solidFill>
                          <a:srgbClr val="313533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Indian gooseberry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4784029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 dirty="0" err="1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Pongamia</a:t>
                      </a:r>
                      <a:r>
                        <a:rPr lang="en-IN" sz="1600" b="0" i="1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 pinnata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Indian Beech Tree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3191039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Psidium guajava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Guava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3842573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 dirty="0" err="1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Putranjiva</a:t>
                      </a:r>
                      <a:r>
                        <a:rPr lang="en-IN" sz="1600" b="0" i="1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IN" sz="1600" b="0" i="1" u="none" strike="noStrike" dirty="0" err="1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roxburghii</a:t>
                      </a:r>
                      <a:endParaRPr lang="en-IN" sz="1600" b="0" i="1" u="none" strike="noStrike" dirty="0">
                        <a:solidFill>
                          <a:srgbClr val="313533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Lucky Bean Tree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4135875"/>
                  </a:ext>
                </a:extLst>
              </a:tr>
            </a:tbl>
          </a:graphicData>
        </a:graphic>
      </p:graphicFrame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B4ABC773-DAB1-D523-3FB9-5384C3F8D7FB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92237308"/>
              </p:ext>
            </p:extLst>
          </p:nvPr>
        </p:nvGraphicFramePr>
        <p:xfrm>
          <a:off x="331838" y="190295"/>
          <a:ext cx="5916562" cy="65164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2402">
                  <a:extLst>
                    <a:ext uri="{9D8B030D-6E8A-4147-A177-3AD203B41FA5}">
                      <a16:colId xmlns:a16="http://schemas.microsoft.com/office/drawing/2014/main" val="3569931508"/>
                    </a:ext>
                  </a:extLst>
                </a:gridCol>
                <a:gridCol w="2040521">
                  <a:extLst>
                    <a:ext uri="{9D8B030D-6E8A-4147-A177-3AD203B41FA5}">
                      <a16:colId xmlns:a16="http://schemas.microsoft.com/office/drawing/2014/main" val="1898359155"/>
                    </a:ext>
                  </a:extLst>
                </a:gridCol>
                <a:gridCol w="1824498">
                  <a:extLst>
                    <a:ext uri="{9D8B030D-6E8A-4147-A177-3AD203B41FA5}">
                      <a16:colId xmlns:a16="http://schemas.microsoft.com/office/drawing/2014/main" val="1283444939"/>
                    </a:ext>
                  </a:extLst>
                </a:gridCol>
                <a:gridCol w="1479141">
                  <a:extLst>
                    <a:ext uri="{9D8B030D-6E8A-4147-A177-3AD203B41FA5}">
                      <a16:colId xmlns:a16="http://schemas.microsoft.com/office/drawing/2014/main" val="3296130687"/>
                    </a:ext>
                  </a:extLst>
                </a:gridCol>
              </a:tblGrid>
              <a:tr h="59525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1" dirty="0">
                          <a:effectLst/>
                        </a:rPr>
                        <a:t>Sr. 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1" dirty="0">
                          <a:effectLst/>
                        </a:rPr>
                        <a:t>Scientific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  <a:buNone/>
                      </a:pPr>
                      <a:r>
                        <a:rPr lang="en-IN" sz="1600" b="1" dirty="0">
                          <a:effectLst/>
                        </a:rPr>
                        <a:t>Common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1" dirty="0">
                          <a:effectLst/>
                        </a:rPr>
                        <a:t>QR Code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1699356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marL="342900" indent="-342900" fontAlgn="ctr">
                        <a:buFont typeface="+mj-lt"/>
                        <a:buAutoNum type="arabicPeriod"/>
                      </a:pPr>
                      <a:endParaRPr lang="en-IN" sz="1600" dirty="0">
                        <a:effectLst/>
                      </a:endParaRPr>
                    </a:p>
                    <a:p>
                      <a:pPr marL="0" indent="0" fontAlgn="ctr">
                        <a:buFont typeface="+mj-lt"/>
                        <a:buNone/>
                      </a:pPr>
                      <a:r>
                        <a:rPr lang="en-IN" sz="1600" dirty="0">
                          <a:effectLst/>
                        </a:rPr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 dirty="0" err="1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Hiptage</a:t>
                      </a:r>
                      <a:r>
                        <a:rPr lang="en-IN" sz="1600" b="0" i="1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 benghalensis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Helicopter Flower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1725259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 dirty="0" err="1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Holarrhena</a:t>
                      </a:r>
                      <a:r>
                        <a:rPr lang="en-IN" sz="1600" b="0" i="1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 pubescens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Ivory tree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81499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Lagerstroemia speciosa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Pride of India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545687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 dirty="0" err="1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Limonia</a:t>
                      </a:r>
                      <a:r>
                        <a:rPr lang="en-IN" sz="1600" b="0" i="1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IN" sz="1600" b="0" i="1" u="none" strike="noStrike" dirty="0" err="1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acidissima</a:t>
                      </a:r>
                      <a:endParaRPr lang="en-IN" sz="1600" b="0" i="1" u="none" strike="noStrike" dirty="0">
                        <a:solidFill>
                          <a:srgbClr val="313533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Wood Apple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4784029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 dirty="0" err="1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Madhuca</a:t>
                      </a:r>
                      <a:r>
                        <a:rPr lang="en-IN" sz="1600" b="0" i="1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 indica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Indian Butter Tree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3191039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Mangifera indica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Mango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3842573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Melia </a:t>
                      </a:r>
                      <a:r>
                        <a:rPr lang="en-IN" sz="1600" b="0" i="1" u="none" strike="noStrike" dirty="0" err="1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dubia</a:t>
                      </a:r>
                      <a:endParaRPr lang="en-IN" sz="1600" b="0" i="1" u="none" strike="noStrike" dirty="0">
                        <a:solidFill>
                          <a:srgbClr val="313533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Malabar Neem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4135875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C50183C6-6E04-58D3-28F2-DA628B7431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2080" y="805816"/>
            <a:ext cx="762000" cy="762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8624F13-41EE-18ED-5665-6D0AFFAAA4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2080" y="1689735"/>
            <a:ext cx="762000" cy="762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1900137-E5A7-7FCE-54F0-554C82159E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2080" y="2527934"/>
            <a:ext cx="762000" cy="7620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A7D9119-1C67-F395-66E2-37EF43DE470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2080" y="3366133"/>
            <a:ext cx="762000" cy="7620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07BD05A-08B2-CA5B-1EA8-176E8F742BD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2080" y="4223588"/>
            <a:ext cx="762000" cy="7620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A8F0F63-93CC-4BF5-D78C-7A9161D3D30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2080" y="5081043"/>
            <a:ext cx="762000" cy="7620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20A5604-75F5-AE9E-1781-7D739122A02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2080" y="5938498"/>
            <a:ext cx="762000" cy="7620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00926498-8E07-BA70-15AB-6D289FE9396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8639" y="834389"/>
            <a:ext cx="733427" cy="73342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61C4A756-8D77-24CB-EC26-CE6E7E4C516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6734" y="1689735"/>
            <a:ext cx="733427" cy="73342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4F6366EF-8599-5357-0137-65F8D66975D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6735" y="2526028"/>
            <a:ext cx="733426" cy="733426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43BF66CF-F02B-6BFF-3476-604ED4E25C7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7681" y="3375653"/>
            <a:ext cx="752480" cy="75248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B1F2250A-6A7A-441C-C7CC-F01813EB508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7681" y="4244332"/>
            <a:ext cx="752480" cy="75248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8EA9782D-A8E9-A4FD-C0FC-7C24B93074F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7680" y="5067291"/>
            <a:ext cx="752481" cy="752481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EFE17F4-74C1-470C-A6F6-7F388525BDDF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7681" y="5903583"/>
            <a:ext cx="752480" cy="752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2940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F7558E-3B75-9E8A-5840-E76198238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B65363A4-8C36-2961-F77C-23DD38CA6079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707789499"/>
              </p:ext>
            </p:extLst>
          </p:nvPr>
        </p:nvGraphicFramePr>
        <p:xfrm>
          <a:off x="331838" y="190295"/>
          <a:ext cx="5916562" cy="65164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2402">
                  <a:extLst>
                    <a:ext uri="{9D8B030D-6E8A-4147-A177-3AD203B41FA5}">
                      <a16:colId xmlns:a16="http://schemas.microsoft.com/office/drawing/2014/main" val="3569931508"/>
                    </a:ext>
                  </a:extLst>
                </a:gridCol>
                <a:gridCol w="2040521">
                  <a:extLst>
                    <a:ext uri="{9D8B030D-6E8A-4147-A177-3AD203B41FA5}">
                      <a16:colId xmlns:a16="http://schemas.microsoft.com/office/drawing/2014/main" val="1898359155"/>
                    </a:ext>
                  </a:extLst>
                </a:gridCol>
                <a:gridCol w="1824498">
                  <a:extLst>
                    <a:ext uri="{9D8B030D-6E8A-4147-A177-3AD203B41FA5}">
                      <a16:colId xmlns:a16="http://schemas.microsoft.com/office/drawing/2014/main" val="1283444939"/>
                    </a:ext>
                  </a:extLst>
                </a:gridCol>
                <a:gridCol w="1479141">
                  <a:extLst>
                    <a:ext uri="{9D8B030D-6E8A-4147-A177-3AD203B41FA5}">
                      <a16:colId xmlns:a16="http://schemas.microsoft.com/office/drawing/2014/main" val="3296130687"/>
                    </a:ext>
                  </a:extLst>
                </a:gridCol>
              </a:tblGrid>
              <a:tr h="59525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1" dirty="0">
                          <a:effectLst/>
                        </a:rPr>
                        <a:t>Sr. 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1" dirty="0">
                          <a:effectLst/>
                        </a:rPr>
                        <a:t>Scientific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  <a:buNone/>
                      </a:pPr>
                      <a:r>
                        <a:rPr lang="en-IN" sz="1600" b="1" dirty="0">
                          <a:effectLst/>
                        </a:rPr>
                        <a:t>Common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1" dirty="0">
                          <a:effectLst/>
                        </a:rPr>
                        <a:t>QR Code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1699356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marL="0" indent="0" fontAlgn="ctr">
                        <a:buFont typeface="+mj-lt"/>
                        <a:buNone/>
                      </a:pPr>
                      <a:r>
                        <a:rPr lang="en-IN" sz="1600" dirty="0">
                          <a:effectLst/>
                        </a:rPr>
                        <a:t>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Syzygium cumini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Java plum, Jamun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1725259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Tamarindus indica L.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Tamarind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81499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Terminalia arjuna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White Murdah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545687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Terminalia bellirica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Beach almond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4784029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33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Terminalia catappa L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Indian Almond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3191039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Thespesia populnea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Indian tulip tree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3842573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Toona ciliata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Indian mahogany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4135875"/>
                  </a:ext>
                </a:extLst>
              </a:tr>
            </a:tbl>
          </a:graphicData>
        </a:graphic>
      </p:graphicFrame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3A3CA17-A246-2732-A753-DCAAB48B3E6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8255" y="819150"/>
            <a:ext cx="718185" cy="71818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694A014-F1C3-E440-8F02-665FA53446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8255" y="1662317"/>
            <a:ext cx="718185" cy="71818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12BE8A4-DB6B-2CD1-51A8-8456870292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8255" y="2527935"/>
            <a:ext cx="718185" cy="71818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9261D89-F872-53CB-2BCD-EE3A2A847BD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8255" y="3393553"/>
            <a:ext cx="718185" cy="71818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107C2E3-BB91-03C0-EC20-DCA58D7C2BA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8254" y="4259171"/>
            <a:ext cx="718185" cy="71818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FA96398-F520-9C2B-0C70-D5D0FCED756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8253" y="5102338"/>
            <a:ext cx="718186" cy="71818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5BF73F2-8843-A38A-A8CF-0C883E1200A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8253" y="5945505"/>
            <a:ext cx="718185" cy="718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4980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</TotalTime>
  <Words>244</Words>
  <Application>Microsoft Office PowerPoint</Application>
  <PresentationFormat>Widescreen</PresentationFormat>
  <Paragraphs>130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Amruta Chavan</dc:creator>
  <cp:lastModifiedBy>Amruta Chavan ONF</cp:lastModifiedBy>
  <cp:revision>10</cp:revision>
  <dcterms:created xsi:type="dcterms:W3CDTF">2026-02-24T05:44:18Z</dcterms:created>
  <dcterms:modified xsi:type="dcterms:W3CDTF">2026-05-29T06:59:40Z</dcterms:modified>
</cp:coreProperties>
</file>